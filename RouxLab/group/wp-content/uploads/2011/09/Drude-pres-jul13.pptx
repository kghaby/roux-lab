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04" r:id="rId2"/>
    <p:sldId id="344" r:id="rId3"/>
    <p:sldId id="358" r:id="rId4"/>
    <p:sldId id="341" r:id="rId5"/>
    <p:sldId id="357" r:id="rId6"/>
    <p:sldId id="350" r:id="rId7"/>
    <p:sldId id="349" r:id="rId8"/>
    <p:sldId id="339" r:id="rId9"/>
    <p:sldId id="343" r:id="rId10"/>
    <p:sldId id="340" r:id="rId11"/>
    <p:sldId id="351" r:id="rId12"/>
    <p:sldId id="352" r:id="rId13"/>
    <p:sldId id="353" r:id="rId14"/>
    <p:sldId id="355" r:id="rId15"/>
    <p:sldId id="356" r:id="rId16"/>
    <p:sldId id="345" r:id="rId17"/>
    <p:sldId id="346" r:id="rId18"/>
    <p:sldId id="348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D73535"/>
    <a:srgbClr val="C84444"/>
    <a:srgbClr val="DE8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4" autoAdjust="0"/>
    <p:restoredTop sz="92012" autoAdjust="0"/>
  </p:normalViewPr>
  <p:slideViewPr>
    <p:cSldViewPr>
      <p:cViewPr>
        <p:scale>
          <a:sx n="73" d="100"/>
          <a:sy n="73" d="100"/>
        </p:scale>
        <p:origin x="-126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0F2BD36-2E76-46E8-B78A-DDB7E5E31A19}" type="datetimeFigureOut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C6ECD07-2C78-4FE1-967E-A436178045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791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960C0C-70B6-480C-AAE7-7CD6FAD3E680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BAD633-729E-460B-B470-0F6F66B876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0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arbo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3" b="4530"/>
          <a:stretch>
            <a:fillRect/>
          </a:stretch>
        </p:blipFill>
        <p:spPr bwMode="auto">
          <a:xfrm>
            <a:off x="0" y="0"/>
            <a:ext cx="609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848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7485E-FC5A-4BA1-B790-E1D87657B2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7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eli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0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848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FAD71-9F35-4BE1-A2F9-3E3B6A6279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5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18471-14ED-41DC-8DE5-F2860C5630D3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E0B40-3BC7-4C68-A0DA-FCA95DC1B5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2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A60DF-0FF9-4E54-A549-D1E3824B2A1F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8616C-F32E-466F-B9D8-18A8BCC417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3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89362-156A-4014-90CA-0EF0B85A437F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B7257-6230-4F99-A35F-7744E15D5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4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BDEA4-A68A-461A-8DD8-51ABBAD96830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5D8D5-1456-41BD-8269-39069C91BA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2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BD701-97B2-462E-A6B5-55802FA43E9E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4F0CB-7517-4352-89C0-1DC1E1F38E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40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28BA94-2062-4FFE-9ECB-C0604FD6CA53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B94E4-5897-437C-9DEC-CDA939E650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5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26D26-5B8F-41FD-9D89-470C367D3075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1DE87-EB37-43A9-9C31-7E8D566F75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9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7BD2C-492C-446A-9816-24250BCAF75D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40BE8B-C198-4304-909E-C108C0EABB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54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23C59-6234-4A31-9D70-30F61EA4F6B9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C7235-06E6-4779-80B9-2B9EE24587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2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6BC186D-B7D4-48A0-B451-27DF3B9AD718}" type="datetime1">
              <a:rPr lang="en-US"/>
              <a:pPr>
                <a:defRPr/>
              </a:pPr>
              <a:t>7/14/2011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BC73D98-55B8-4957-921C-CB5821C24D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3" r:id="rId2"/>
    <p:sldLayoutId id="2147483724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85800" y="2057400"/>
            <a:ext cx="7772400" cy="1752600"/>
          </a:xfrm>
          <a:prstGeom prst="rect">
            <a:avLst/>
          </a:prstGeom>
        </p:spPr>
        <p:txBody>
          <a:bodyPr anchor="ctr">
            <a:normAutofit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000" dirty="0"/>
              <a:t>Hydration Free Energy Calculations using the </a:t>
            </a:r>
            <a:r>
              <a:rPr lang="en-US" sz="4000" dirty="0" err="1"/>
              <a:t>Drude</a:t>
            </a:r>
            <a:r>
              <a:rPr lang="en-US" sz="4000" dirty="0"/>
              <a:t> Force Field with CHARMM</a:t>
            </a:r>
            <a:endParaRPr lang="en-US" sz="3200" i="1" dirty="0">
              <a:latin typeface="+mj-lt"/>
              <a:ea typeface="+mj-ea"/>
              <a:cs typeface="+mj-cs"/>
            </a:endParaRPr>
          </a:p>
        </p:txBody>
      </p:sp>
      <p:sp>
        <p:nvSpPr>
          <p:cNvPr id="5123" name="Rectangle 3"/>
          <p:cNvSpPr txBox="1">
            <a:spLocks noChangeArrowheads="1"/>
          </p:cNvSpPr>
          <p:nvPr/>
        </p:nvSpPr>
        <p:spPr bwMode="auto">
          <a:xfrm>
            <a:off x="2590800" y="3886200"/>
            <a:ext cx="403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Christopher Rowley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Department of Biochemistry and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Molecular Biology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University of Chicago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New Model for NMA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600200"/>
            <a:ext cx="7924800" cy="1828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new NMA model was developed using a revised charge fitting scheme developed by Lei Huang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harges, </a:t>
            </a:r>
            <a:r>
              <a:rPr lang="en-US" dirty="0" err="1" smtClean="0"/>
              <a:t>polarizabilities</a:t>
            </a:r>
            <a:r>
              <a:rPr lang="en-US" dirty="0" smtClean="0"/>
              <a:t>, </a:t>
            </a:r>
            <a:r>
              <a:rPr lang="en-US" dirty="0" err="1" smtClean="0"/>
              <a:t>Thole</a:t>
            </a:r>
            <a:r>
              <a:rPr lang="en-US" dirty="0" smtClean="0"/>
              <a:t> parameters, and </a:t>
            </a:r>
            <a:r>
              <a:rPr lang="en-US" dirty="0" err="1" smtClean="0"/>
              <a:t>anisotrophies</a:t>
            </a:r>
            <a:r>
              <a:rPr lang="en-US" dirty="0" smtClean="0"/>
              <a:t> are optimized simultaneously</a:t>
            </a:r>
          </a:p>
          <a:p>
            <a:pPr lvl="1"/>
            <a:r>
              <a:rPr lang="en-US" dirty="0" err="1"/>
              <a:t>p</a:t>
            </a:r>
            <a:r>
              <a:rPr lang="en-US" dirty="0" err="1" smtClean="0"/>
              <a:t>olarizabilities</a:t>
            </a:r>
            <a:r>
              <a:rPr lang="en-US" dirty="0" smtClean="0"/>
              <a:t> are restrained near Miller </a:t>
            </a:r>
            <a:r>
              <a:rPr lang="en-US" dirty="0" err="1" smtClean="0"/>
              <a:t>polarizabilities</a:t>
            </a:r>
            <a:endParaRPr lang="en-US" dirty="0"/>
          </a:p>
        </p:txBody>
      </p:sp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5893165"/>
              </p:ext>
            </p:extLst>
          </p:nvPr>
        </p:nvGraphicFramePr>
        <p:xfrm>
          <a:off x="685800" y="3505200"/>
          <a:ext cx="8229600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Courier New" pitchFamily="49" charset="0"/>
                          <a:cs typeface="Courier New" pitchFamily="49" charset="0"/>
                        </a:rPr>
                        <a:t>Old</a:t>
                      </a:r>
                      <a:endParaRPr 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Courier New" pitchFamily="49" charset="0"/>
                          <a:cs typeface="Courier New" pitchFamily="49" charset="0"/>
                        </a:rPr>
                        <a:t>Lei’s Code</a:t>
                      </a:r>
                      <a:endParaRPr 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CL   CD33C   -0.300  ALPHA -2.511  THOLE 0.254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HL1  HDA3A    0.058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HL2  HDA3A    0.058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HL3  HDA3A    0.058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    CD2O1A   0.682  ALPHA -1.576  THOLE 0.886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O    OD2C1A  -0.009  ALPHA -1.167  THOLE 1.310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N    ND2A2   -0.465  ALPHA -1.810  THOLE 1.149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    HDP1A    0.325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CC   CD33C   -0.065  ALPHA -2.020  THOLE 0.254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HC1  HDA3A    0.094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HC2  HDA3A    0.094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HC3  HDA3A    0.094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LPA  LP      -0.3425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LPB  LP      -0.2815</a:t>
                      </a:r>
                    </a:p>
                    <a:p>
                      <a:r>
                        <a:rPr lang="pt-BR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ANISOTROPY O C LPA LPB  A11 0.88    A22 1.32</a:t>
                      </a:r>
                      <a:endParaRPr lang="en-US" sz="1000" b="0" i="0" u="none" strike="noStrike" kern="1200" baseline="0" dirty="0" smtClean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endParaRPr lang="en-US" sz="1000" b="0" i="0" u="none" strike="noStrike" kern="1200" baseline="0" dirty="0" smtClean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CL   CD33C   -0.249  ALPHA -1.584  THOLE 0.330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HL1  HDA3A    0.050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HL2  HDA3A    0.050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HL3  HDA3A    0.050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    CD2O1A   0.784  ALPHA -1.748  THOLE 1.517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O    OD2C1A   0.035  ALPHA -1.032  THOLE 0.915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N    ND2A2   -0.585  ALPHA -1.544  THOLE 0.438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    HDP1A    0.297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CC   CD33C    0.119  ALPHA -1.229  THOLE 0.738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HC1  HDA3A    0.041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HC2  HDA3A    0.041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HC3  HDA3A    0.041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LPA  LP      -0.418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LPB  LP      -0.256</a:t>
                      </a:r>
                    </a:p>
                    <a:p>
                      <a:r>
                        <a:rPr lang="pt-BR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ANISOTROPY O C LPA LPB  A11  0.82322 A22  1.14332</a:t>
                      </a:r>
                      <a:endParaRPr lang="en-US" sz="1000" b="0" i="0" u="none" strike="noStrike" kern="1200" baseline="0" dirty="0" smtClean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endParaRPr lang="en-US" sz="1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21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Lennard</a:t>
            </a:r>
            <a:r>
              <a:rPr lang="en-US" dirty="0" smtClean="0"/>
              <a:t>-Jones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3810000" cy="4572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Pedro found new </a:t>
            </a:r>
            <a:r>
              <a:rPr lang="en-US" dirty="0" err="1" smtClean="0"/>
              <a:t>Lennard</a:t>
            </a:r>
            <a:r>
              <a:rPr lang="en-US" dirty="0" smtClean="0"/>
              <a:t>-Jones parameters for these electrostatics</a:t>
            </a:r>
          </a:p>
          <a:p>
            <a:r>
              <a:rPr lang="en-US" dirty="0" smtClean="0"/>
              <a:t>Physical p</a:t>
            </a:r>
            <a:r>
              <a:rPr lang="en-US" dirty="0" smtClean="0"/>
              <a:t>roperties must be reevaluated with new model</a:t>
            </a:r>
          </a:p>
          <a:p>
            <a:pPr lvl="1"/>
            <a:r>
              <a:rPr lang="en-US" dirty="0" smtClean="0"/>
              <a:t>hydration free energy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437304"/>
              </p:ext>
            </p:extLst>
          </p:nvPr>
        </p:nvGraphicFramePr>
        <p:xfrm>
          <a:off x="5105400" y="1676400"/>
          <a:ext cx="3429000" cy="2453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9654"/>
                <a:gridCol w="613876"/>
                <a:gridCol w="1014207"/>
                <a:gridCol w="651263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Atom Type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Emin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US" sz="14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>
                          <a:effectLst/>
                        </a:rPr>
                        <a:t>kcal/</a:t>
                      </a:r>
                      <a:r>
                        <a:rPr lang="en-US" sz="1400" dirty="0" err="1">
                          <a:effectLst/>
                        </a:rPr>
                        <a:t>mol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Rmin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US" sz="14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>
                          <a:effectLst/>
                        </a:rPr>
                        <a:t>Å)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Old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smtClean="0">
                          <a:effectLst/>
                        </a:rPr>
                        <a:t>0.260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1.925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New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-0.200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1.800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Old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smtClean="0">
                          <a:effectLst/>
                        </a:rPr>
                        <a:t>0.180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1.900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New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-0.200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1.750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 (sp</a:t>
                      </a:r>
                      <a:r>
                        <a:rPr lang="en-US" sz="1400" baseline="300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Old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smtClean="0">
                          <a:effectLst/>
                        </a:rPr>
                        <a:t>0.100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1.600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New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-0.050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1.775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 (methyl)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Old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smtClean="0">
                          <a:effectLst/>
                        </a:rPr>
                        <a:t>0.070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1.740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New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-0.078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1.940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311412"/>
              </p:ext>
            </p:extLst>
          </p:nvPr>
        </p:nvGraphicFramePr>
        <p:xfrm>
          <a:off x="5105400" y="4572000"/>
          <a:ext cx="3581400" cy="19629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02054"/>
                <a:gridCol w="613876"/>
                <a:gridCol w="1014207"/>
                <a:gridCol w="651263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NBFIX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Emin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US" sz="14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>
                          <a:effectLst/>
                        </a:rPr>
                        <a:t>kcal/</a:t>
                      </a:r>
                      <a:r>
                        <a:rPr lang="en-US" sz="1400" dirty="0" err="1">
                          <a:effectLst/>
                        </a:rPr>
                        <a:t>mol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Rmin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endParaRPr lang="en-US" sz="14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>
                          <a:effectLst/>
                        </a:rPr>
                        <a:t>Å)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N – ODW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Old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-0.2250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3.6569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New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-0.2054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3.6569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Comb.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-0.2341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3.712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O – ODW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Old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-0.2054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3.7369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New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-0.2054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3.6269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Comb.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-0.2202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3.5369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81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1417"/>
            <a:ext cx="7848600" cy="4572000"/>
          </a:xfrm>
        </p:spPr>
        <p:txBody>
          <a:bodyPr/>
          <a:lstStyle/>
          <a:p>
            <a:r>
              <a:rPr lang="en-US" dirty="0" smtClean="0"/>
              <a:t>Procedures by the </a:t>
            </a:r>
            <a:r>
              <a:rPr lang="en-US" dirty="0" err="1" smtClean="0"/>
              <a:t>MacKerell</a:t>
            </a:r>
            <a:r>
              <a:rPr lang="en-US" dirty="0" smtClean="0"/>
              <a:t> and Roux groups gave hydration free energies that differed by ~1.5 kcal/</a:t>
            </a:r>
            <a:r>
              <a:rPr lang="en-US" dirty="0" err="1" smtClean="0"/>
              <a:t>mol</a:t>
            </a:r>
            <a:r>
              <a:rPr lang="en-US" dirty="0" smtClean="0"/>
              <a:t> for the hydration energy of NMA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790786"/>
              </p:ext>
            </p:extLst>
          </p:nvPr>
        </p:nvGraphicFramePr>
        <p:xfrm>
          <a:off x="1066800" y="3886200"/>
          <a:ext cx="6553200" cy="1835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21080"/>
                <a:gridCol w="1310640"/>
                <a:gridCol w="1310640"/>
                <a:gridCol w="1310640"/>
              </a:tblGrid>
              <a:tr h="3299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</a:rPr>
                        <a:t>Ethanol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ΔG</a:t>
                      </a:r>
                      <a:r>
                        <a:rPr lang="en-US" sz="2000" baseline="-25000" dirty="0" err="1">
                          <a:effectLst/>
                        </a:rPr>
                        <a:t>rep</a:t>
                      </a:r>
                      <a:endParaRPr lang="en-US" sz="20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ΔG</a:t>
                      </a:r>
                      <a:r>
                        <a:rPr lang="en-US" sz="2000" baseline="-25000" dirty="0" err="1">
                          <a:effectLst/>
                        </a:rPr>
                        <a:t>att</a:t>
                      </a:r>
                      <a:endParaRPr lang="en-US" sz="20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ΔG</a:t>
                      </a:r>
                      <a:r>
                        <a:rPr lang="en-US" sz="2000" baseline="-25000" dirty="0" err="1">
                          <a:effectLst/>
                        </a:rPr>
                        <a:t>chg</a:t>
                      </a:r>
                      <a:endParaRPr lang="en-US" sz="20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ΔG</a:t>
                      </a:r>
                      <a:r>
                        <a:rPr lang="en-US" sz="2000" baseline="-25000" dirty="0" err="1">
                          <a:effectLst/>
                        </a:rPr>
                        <a:t>solv</a:t>
                      </a:r>
                      <a:endParaRPr lang="en-US" sz="20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Lopez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14.23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-13.00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-10.35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-9.11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Rowley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14.74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-13.11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-10.22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-8.59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SimSun"/>
                        </a:rPr>
                        <a:t>Exptl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  <a:ea typeface="SimSun"/>
                        </a:rPr>
                        <a:t>-10.1</a:t>
                      </a:r>
                      <a:endParaRPr lang="en-US" sz="20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6800" y="5943600"/>
            <a:ext cx="6172200" cy="4572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*LRC estimated at -0.45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kcal/</a:t>
            </a:r>
            <a:r>
              <a:rPr kumimoji="0" lang="en-US" sz="28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mol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800" y="6172200"/>
            <a:ext cx="6096000" cy="4572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 lnSpcReduction="20000"/>
          </a:bodyPr>
          <a:lstStyle/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892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Hamiltonian Exchange Replica Exchange 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606221"/>
            <a:ext cx="6324600" cy="2099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7696200" cy="3006021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18 Repulsive Energy Windows</a:t>
            </a:r>
          </a:p>
          <a:p>
            <a:pPr lvl="1"/>
            <a:r>
              <a:rPr lang="en-US" dirty="0" smtClean="0"/>
              <a:t>scaling intervals: </a:t>
            </a:r>
          </a:p>
          <a:p>
            <a:pPr lvl="2"/>
            <a:r>
              <a:rPr lang="en-US" dirty="0" smtClean="0"/>
              <a:t>[0.0, 0.2, 0.3, 0.4, 0.5, 0.6, 0.7, 0.8, 0.9, 1.0] </a:t>
            </a:r>
          </a:p>
          <a:p>
            <a:pPr lvl="1"/>
            <a:r>
              <a:rPr lang="el-GR" dirty="0" smtClean="0"/>
              <a:t>λ</a:t>
            </a:r>
            <a:r>
              <a:rPr lang="en-US" dirty="0" smtClean="0"/>
              <a:t>=[0,1]</a:t>
            </a:r>
          </a:p>
          <a:p>
            <a:r>
              <a:rPr lang="en-US" dirty="0" smtClean="0"/>
              <a:t>11 Attractive Energy Windows</a:t>
            </a:r>
          </a:p>
          <a:p>
            <a:r>
              <a:rPr lang="en-US" dirty="0" smtClean="0"/>
              <a:t>Charging component of </a:t>
            </a:r>
            <a:r>
              <a:rPr lang="en-US" dirty="0" err="1" smtClean="0"/>
              <a:t>Drude</a:t>
            </a:r>
            <a:r>
              <a:rPr lang="en-US" dirty="0" smtClean="0"/>
              <a:t> systems cannot be included in exchange</a:t>
            </a:r>
          </a:p>
          <a:p>
            <a:r>
              <a:rPr lang="en-US" dirty="0" smtClean="0"/>
              <a:t>Exchanges attempted every 100 </a:t>
            </a:r>
            <a:r>
              <a:rPr lang="en-US" dirty="0" err="1" smtClean="0"/>
              <a:t>fs</a:t>
            </a:r>
            <a:endParaRPr lang="en-US" dirty="0" smtClean="0"/>
          </a:p>
          <a:p>
            <a:r>
              <a:rPr lang="en-US" dirty="0" smtClean="0"/>
              <a:t>~50% acceptance rate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86997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Thermostats Used in Gas Phase Component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7772400" cy="23621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Monomer FEP was calculated using leap-frog </a:t>
            </a:r>
            <a:r>
              <a:rPr lang="en-US" dirty="0" err="1" smtClean="0"/>
              <a:t>Langevin</a:t>
            </a:r>
            <a:r>
              <a:rPr lang="en-US" dirty="0" smtClean="0"/>
              <a:t> integrator (NOT Dual thermostat)</a:t>
            </a:r>
          </a:p>
          <a:p>
            <a:r>
              <a:rPr lang="en-US" dirty="0" smtClean="0"/>
              <a:t>Results in ~0.1 kcal/</a:t>
            </a:r>
            <a:r>
              <a:rPr lang="en-US" dirty="0" err="1" smtClean="0"/>
              <a:t>mol</a:t>
            </a:r>
            <a:r>
              <a:rPr lang="en-US" dirty="0" smtClean="0"/>
              <a:t> errors</a:t>
            </a:r>
          </a:p>
          <a:p>
            <a:r>
              <a:rPr lang="en-US" dirty="0" smtClean="0"/>
              <a:t>There is now a functional dual-</a:t>
            </a:r>
            <a:r>
              <a:rPr lang="en-US" dirty="0" err="1" smtClean="0"/>
              <a:t>Langevin</a:t>
            </a:r>
            <a:r>
              <a:rPr lang="en-US" dirty="0" smtClean="0"/>
              <a:t> thermostat in CHARMM that works with VV2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6" name="Group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4128092"/>
              </p:ext>
            </p:extLst>
          </p:nvPr>
        </p:nvGraphicFramePr>
        <p:xfrm>
          <a:off x="1219200" y="4008120"/>
          <a:ext cx="7086600" cy="2468880"/>
        </p:xfrm>
        <a:graphic>
          <a:graphicData uri="http://schemas.openxmlformats.org/drawingml/2006/table">
            <a:tbl>
              <a:tblPr/>
              <a:tblGrid>
                <a:gridCol w="7086600"/>
              </a:tblGrid>
              <a:tr h="20574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TPCONTROL NTHER 2 NHGAM 5.0 NHGAMD 10.0 -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THER 1 TREF 298.15 LANG SELECT .NOT. TYPE D* END -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THER 2 TREF 1.0 LANG SELECT TYPE D* END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SimSun" pitchFamily="2" charset="-122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DYNAMICS  vv2       start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nstep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@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nstep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timestp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@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timestep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-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ntrfrq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@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nstep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iprfrq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-1  -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nprint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1000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iseed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@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useed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-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iasvel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 1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firstt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@temp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finalt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@temp    -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inbfrq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-1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imgfrq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-1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ihbfrq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0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ilbfrq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0  -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iunread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-1  -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iunwrite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-1  -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iuncrd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-1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nsavcrd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100   -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       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punit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52 wham 54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013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of Charging Free Energy Component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526694"/>
              </p:ext>
            </p:extLst>
          </p:nvPr>
        </p:nvGraphicFramePr>
        <p:xfrm>
          <a:off x="5638800" y="2133600"/>
          <a:ext cx="314807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/>
                <a:gridCol w="1280541"/>
                <a:gridCol w="1259205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Run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Integration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ΔG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 (kcal/</a:t>
                      </a:r>
                      <a:r>
                        <a:rPr kumimoji="0" lang="en-US" sz="18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mol</a:t>
                      </a: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)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WHAM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-62.39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TI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-63.11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2 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WHAM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-62.48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TI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-63.18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38200" y="1981200"/>
            <a:ext cx="4191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 charging free energies component</a:t>
            </a:r>
          </a:p>
          <a:p>
            <a:r>
              <a:rPr lang="en-US" dirty="0" smtClean="0"/>
              <a:t>The non-polar components can be integrated using WHAM</a:t>
            </a:r>
          </a:p>
          <a:p>
            <a:r>
              <a:rPr lang="en-US" dirty="0" smtClean="0"/>
              <a:t>Integrating the charging component with WHAM introduces an error ~0.6 kcal/</a:t>
            </a:r>
            <a:r>
              <a:rPr lang="en-US" dirty="0" err="1" smtClean="0"/>
              <a:t>mol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4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3400"/>
            <a:ext cx="7848600" cy="1143000"/>
          </a:xfrm>
        </p:spPr>
        <p:txBody>
          <a:bodyPr/>
          <a:lstStyle/>
          <a:p>
            <a:r>
              <a:rPr lang="en-US" dirty="0" smtClean="0"/>
              <a:t>Difference </a:t>
            </a:r>
            <a:r>
              <a:rPr lang="en-US" dirty="0"/>
              <a:t>in Repulsive </a:t>
            </a:r>
            <a:r>
              <a:rPr lang="en-US" dirty="0" smtClean="0"/>
              <a:t>Component </a:t>
            </a:r>
            <a:r>
              <a:rPr lang="en-US" dirty="0"/>
              <a:t>is Due to WHAM SCF Tolerance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4" descr="re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74863"/>
            <a:ext cx="4038600" cy="30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7" name="Group 14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0281066"/>
              </p:ext>
            </p:extLst>
          </p:nvPr>
        </p:nvGraphicFramePr>
        <p:xfrm>
          <a:off x="838200" y="5105400"/>
          <a:ext cx="8001000" cy="1463040"/>
        </p:xfrm>
        <a:graphic>
          <a:graphicData uri="http://schemas.openxmlformats.org/drawingml/2006/table">
            <a:tbl>
              <a:tblPr/>
              <a:tblGrid>
                <a:gridCol w="4000500"/>
                <a:gridCol w="4000500"/>
              </a:tblGrid>
              <a:tr h="1066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open read card unit 54 name @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job.wham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SimSun" pitchFamily="2" charset="-122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WHAM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MAXWindow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50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MAXTime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@MTIME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WSIZe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@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wsize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-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   unit 54 </a:t>
                      </a:r>
                      <a:r>
                        <a:rPr kumimoji="0" 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tol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 0.05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nstep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 200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close unit 54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write title unit 55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* job @job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* Wham free energy: ?WHAMFE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*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RETURN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open read card unit 54 name @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job.wham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SimSun" pitchFamily="2" charset="-122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WHAM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MAXWindow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50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MAXTime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@MTIME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WSIZe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@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wsize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Courier New" pitchFamily="49" charset="0"/>
                        </a:rPr>
                        <a:t>  -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   unit 54 </a:t>
                      </a:r>
                      <a:r>
                        <a:rPr kumimoji="0" 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tol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 0.001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nstep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 200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close unit 54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write title unit 55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* job @job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SimSun" pitchFamily="2" charset="-122"/>
                          <a:cs typeface="Arial" charset="0"/>
                        </a:rPr>
                        <a:t>* Wham free energy: ?WHAMFE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686905"/>
              </p:ext>
            </p:extLst>
          </p:nvPr>
        </p:nvGraphicFramePr>
        <p:xfrm>
          <a:off x="4495800" y="2438400"/>
          <a:ext cx="43434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219200"/>
                <a:gridCol w="14478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Simulation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WHAM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Tolerance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ΔG</a:t>
                      </a:r>
                      <a:r>
                        <a:rPr kumimoji="0" lang="en-US" sz="1800" u="none" strike="noStrike" cap="none" normalizeH="0" baseline="30000" smtClean="0">
                          <a:ln>
                            <a:noFill/>
                          </a:ln>
                          <a:effectLst/>
                        </a:rPr>
                        <a:t>rep</a:t>
                      </a:r>
                      <a:endParaRPr kumimoji="0" lang="en-US" sz="18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(kcal/mol)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MD 100 </a:t>
                      </a:r>
                      <a:r>
                        <a:rPr kumimoji="0" lang="en-US" sz="18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ps</a:t>
                      </a: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16.45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MD 100 </a:t>
                      </a:r>
                      <a:r>
                        <a:rPr kumimoji="0" lang="en-US" sz="18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ps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0.001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17.22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MD 500 ps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0.001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17.32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REMD 500 ps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0.001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17.15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  <a:cs typeface="Arial" charset="0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178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Serial </a:t>
            </a:r>
            <a:r>
              <a:rPr lang="en-US" dirty="0" err="1" smtClean="0"/>
              <a:t>vs</a:t>
            </a:r>
            <a:r>
              <a:rPr lang="en-US" dirty="0" smtClean="0"/>
              <a:t> Parallel CHARMM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4" descr="ti-nm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95600"/>
            <a:ext cx="4038600" cy="30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7" descr="deltaE-ti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5617" y="2895600"/>
            <a:ext cx="4038600" cy="30305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876299" y="1584325"/>
            <a:ext cx="782791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dirty="0">
                <a:latin typeface="+mn-lt"/>
              </a:rPr>
              <a:t>A small but significant difference between the parallel and serial versions of CHARMM was found in the charging free energy of NMA.</a:t>
            </a:r>
          </a:p>
        </p:txBody>
      </p:sp>
      <p:sp>
        <p:nvSpPr>
          <p:cNvPr id="8" name="Oval 7"/>
          <p:cNvSpPr/>
          <p:nvPr/>
        </p:nvSpPr>
        <p:spPr>
          <a:xfrm>
            <a:off x="876300" y="3124200"/>
            <a:ext cx="647700" cy="8382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524000" y="3543300"/>
            <a:ext cx="3962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02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Serial </a:t>
            </a:r>
            <a:r>
              <a:rPr lang="en-US" dirty="0" err="1" smtClean="0"/>
              <a:t>vs</a:t>
            </a:r>
            <a:r>
              <a:rPr lang="en-US" dirty="0" smtClean="0"/>
              <a:t> Parallel 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4572000"/>
          </a:xfrm>
        </p:spPr>
        <p:txBody>
          <a:bodyPr/>
          <a:lstStyle/>
          <a:p>
            <a:r>
              <a:rPr lang="en-US" dirty="0"/>
              <a:t>A bug was present in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epert.src</a:t>
            </a:r>
            <a:r>
              <a:rPr lang="en-US" dirty="0"/>
              <a:t> that called the THOLE_NBX subroutine only once rather than once per </a:t>
            </a:r>
            <a:r>
              <a:rPr lang="en-US" dirty="0" smtClean="0"/>
              <a:t>process</a:t>
            </a:r>
          </a:p>
          <a:p>
            <a:r>
              <a:rPr lang="en-US" dirty="0" smtClean="0"/>
              <a:t>Serial and parallel CHARMM now give statistically equivalent results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graphicFrame>
        <p:nvGraphicFramePr>
          <p:cNvPr id="6" name="Group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476250"/>
              </p:ext>
            </p:extLst>
          </p:nvPr>
        </p:nvGraphicFramePr>
        <p:xfrm>
          <a:off x="1143000" y="4572000"/>
          <a:ext cx="7239000" cy="1554480"/>
        </p:xfrm>
        <a:graphic>
          <a:graphicData uri="http://schemas.openxmlformats.org/drawingml/2006/table">
            <a:tbl>
              <a:tblPr/>
              <a:tblGrid>
                <a:gridCol w="7239000"/>
              </a:tblGrid>
              <a:tr h="1554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IF (MYNOD == 0) THEN      !##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PARALLELx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IF (QDRUDE .AND. QETPRT(ELEC)) THEN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     CALL THOLE_NBX(ISDRUDE,ALPHADP,THOLEI, &amp;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        PPCG, &amp;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        ETPRTM(ELEC),BNBNDR%INB14,BNBNDR%IBLO14, &amp;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               X,Y,Z,DX,DY,DZ,DD1,IUPT,QSECDL,NATOMP)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166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85947"/>
              </p:ext>
            </p:extLst>
          </p:nvPr>
        </p:nvGraphicFramePr>
        <p:xfrm>
          <a:off x="1371600" y="2936240"/>
          <a:ext cx="67055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053560"/>
                <a:gridCol w="1223613"/>
                <a:gridCol w="1223613"/>
                <a:gridCol w="1223613"/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NMA </a:t>
                      </a:r>
                      <a:r>
                        <a:rPr lang="en-US" sz="1600" dirty="0" smtClean="0">
                          <a:effectLst/>
                        </a:rPr>
                        <a:t>(with </a:t>
                      </a:r>
                      <a:r>
                        <a:rPr lang="en-US" sz="1600" dirty="0">
                          <a:effectLst/>
                        </a:rPr>
                        <a:t>NBFIX)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rep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att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chg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solv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Revised 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14.92</a:t>
                      </a:r>
                      <a:endParaRPr lang="en-US" sz="14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-13.03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-10.98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-9.09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REMD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14.76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-13.07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-10.98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-9.30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Exptl</a:t>
                      </a:r>
                      <a:endParaRPr lang="en-US" sz="14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-10.1</a:t>
                      </a:r>
                      <a:endParaRPr lang="en-US" sz="14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600200"/>
            <a:ext cx="7848600" cy="1143000"/>
          </a:xfrm>
        </p:spPr>
        <p:txBody>
          <a:bodyPr/>
          <a:lstStyle/>
          <a:p>
            <a:r>
              <a:rPr lang="en-US" dirty="0" smtClean="0"/>
              <a:t>With the revised procedure the calculated hydration free energy of NMA is: 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397177"/>
              </p:ext>
            </p:extLst>
          </p:nvPr>
        </p:nvGraphicFramePr>
        <p:xfrm>
          <a:off x="1371600" y="4688840"/>
          <a:ext cx="668718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585"/>
                <a:gridCol w="1168400"/>
                <a:gridCol w="1168400"/>
                <a:gridCol w="1168400"/>
                <a:gridCol w="1168400"/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NMA </a:t>
                      </a:r>
                      <a:r>
                        <a:rPr lang="en-US" sz="1600" dirty="0" smtClean="0">
                          <a:effectLst/>
                          <a:latin typeface="+mn-lt"/>
                        </a:rPr>
                        <a:t>(without</a:t>
                      </a:r>
                      <a:r>
                        <a:rPr lang="en-US" sz="160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600" dirty="0" smtClean="0">
                          <a:effectLst/>
                          <a:latin typeface="+mn-lt"/>
                        </a:rPr>
                        <a:t>NBFIX</a:t>
                      </a:r>
                      <a:r>
                        <a:rPr lang="en-US" sz="1600" dirty="0">
                          <a:effectLst/>
                          <a:latin typeface="+mn-lt"/>
                        </a:rPr>
                        <a:t>)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  <a:latin typeface="+mn-lt"/>
                        </a:rPr>
                        <a:t>rep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  <a:latin typeface="+mn-lt"/>
                        </a:rPr>
                        <a:t>att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  <a:latin typeface="+mn-lt"/>
                        </a:rPr>
                        <a:t>chg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  <a:latin typeface="+mn-lt"/>
                        </a:rPr>
                        <a:t>solv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Revised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14.62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-12.69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-13.47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-11.54</a:t>
                      </a: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REMD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14.65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-12.78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-13.47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-11.60</a:t>
                      </a: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Exptl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SimSun"/>
                        </a:rPr>
                        <a:t>-10.1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02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II: Revisiting Old Molecules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 have used this procedure to recalculate the hydration free energies for some existing molecules in the </a:t>
            </a:r>
            <a:r>
              <a:rPr lang="en-US" dirty="0" err="1" smtClean="0"/>
              <a:t>Drude</a:t>
            </a:r>
            <a:r>
              <a:rPr lang="en-US" dirty="0" smtClean="0"/>
              <a:t> force field</a:t>
            </a:r>
          </a:p>
          <a:p>
            <a:r>
              <a:rPr lang="en-US" dirty="0" smtClean="0"/>
              <a:t>Test cases:</a:t>
            </a:r>
          </a:p>
          <a:p>
            <a:pPr lvl="1"/>
            <a:r>
              <a:rPr lang="en-US" dirty="0" smtClean="0"/>
              <a:t>Benzene</a:t>
            </a:r>
          </a:p>
          <a:p>
            <a:pPr lvl="1"/>
            <a:r>
              <a:rPr lang="en-US" dirty="0" smtClean="0"/>
              <a:t>Ethanol</a:t>
            </a:r>
          </a:p>
          <a:p>
            <a:pPr lvl="1"/>
            <a:r>
              <a:rPr lang="en-US" dirty="0" smtClean="0"/>
              <a:t>Butane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708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Hydration Free Energy </a:t>
            </a:r>
            <a:r>
              <a:rPr lang="en-US" smtClean="0"/>
              <a:t>of Benzene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054597"/>
              </p:ext>
            </p:extLst>
          </p:nvPr>
        </p:nvGraphicFramePr>
        <p:xfrm>
          <a:off x="1371600" y="1905000"/>
          <a:ext cx="5765800" cy="2336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160"/>
                <a:gridCol w="1153160"/>
                <a:gridCol w="1153160"/>
                <a:gridCol w="1153160"/>
                <a:gridCol w="1153160"/>
              </a:tblGrid>
              <a:tr h="3299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Benzene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rep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att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chg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solv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Published</a:t>
                      </a:r>
                      <a:r>
                        <a:rPr lang="en-US" sz="1600" baseline="30000" dirty="0">
                          <a:effectLst/>
                          <a:latin typeface="+mn-lt"/>
                          <a:ea typeface="SimSun"/>
                        </a:rPr>
                        <a:t>1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14.61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-14.24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-1.43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-1.06</a:t>
                      </a: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Revised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15.47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-12.34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-2.53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0.60</a:t>
                      </a: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REMD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15.18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-12.43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-2.53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0.22</a:t>
                      </a: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  <a:ea typeface="SimSun"/>
                        </a:rPr>
                        <a:t>Exptl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-0.86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143000" y="4413852"/>
            <a:ext cx="6400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Lopez et al.</a:t>
            </a:r>
            <a:r>
              <a:rPr lang="en-US" i="1" dirty="0"/>
              <a:t> J. Phys. Chem. B</a:t>
            </a:r>
            <a:r>
              <a:rPr lang="en-US" dirty="0"/>
              <a:t> 2007, 111, 2873-2885</a:t>
            </a:r>
          </a:p>
        </p:txBody>
      </p:sp>
    </p:spTree>
    <p:extLst>
      <p:ext uri="{BB962C8B-B14F-4D97-AF65-F5344CB8AC3E}">
        <p14:creationId xmlns:p14="http://schemas.microsoft.com/office/powerpoint/2010/main" val="3635181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Hydration Free Energy of Ethanol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167533"/>
              </p:ext>
            </p:extLst>
          </p:nvPr>
        </p:nvGraphicFramePr>
        <p:xfrm>
          <a:off x="1143000" y="1828800"/>
          <a:ext cx="6553200" cy="2838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21080"/>
                <a:gridCol w="1310640"/>
                <a:gridCol w="1310640"/>
                <a:gridCol w="1310640"/>
              </a:tblGrid>
              <a:tr h="3299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Ethanol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rep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att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chg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</a:rPr>
                        <a:t>solv</a:t>
                      </a:r>
                      <a:endParaRPr lang="en-US" sz="16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SimSun"/>
                        </a:rPr>
                        <a:t>Published</a:t>
                      </a:r>
                      <a:r>
                        <a:rPr lang="en-US" sz="1600" baseline="30000" dirty="0" smtClean="0">
                          <a:effectLst/>
                          <a:latin typeface="+mn-lt"/>
                          <a:ea typeface="SimSun"/>
                        </a:rPr>
                        <a:t>1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-5.66</a:t>
                      </a: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Published </a:t>
                      </a:r>
                      <a:r>
                        <a:rPr lang="en-US" sz="1600" dirty="0" smtClean="0">
                          <a:effectLst/>
                          <a:latin typeface="+mn-lt"/>
                          <a:ea typeface="SimSun"/>
                        </a:rPr>
                        <a:t>(PS LJ)</a:t>
                      </a:r>
                      <a:r>
                        <a:rPr lang="en-US" sz="1600" baseline="30000" dirty="0" smtClean="0">
                          <a:effectLst/>
                          <a:latin typeface="+mn-lt"/>
                          <a:ea typeface="SimSun"/>
                        </a:rPr>
                        <a:t>2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</a:t>
                      </a:r>
                      <a:r>
                        <a:rPr lang="en-US" sz="1600" dirty="0" smtClean="0">
                          <a:effectLst/>
                          <a:latin typeface="+mn-lt"/>
                          <a:ea typeface="SimSun"/>
                        </a:rPr>
                        <a:t>5.38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Revised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11.61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-8.44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-7.11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-3.93</a:t>
                      </a: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REMD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11.30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-8.46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-7.11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-4.26</a:t>
                      </a: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Exptl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-5.01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143000" y="4800600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Anisimov et al, </a:t>
            </a:r>
            <a:r>
              <a:rPr lang="en-US" i="1" dirty="0"/>
              <a:t>J. Chem. Theory </a:t>
            </a:r>
            <a:r>
              <a:rPr lang="en-US" i="1" dirty="0" err="1"/>
              <a:t>Comput</a:t>
            </a:r>
            <a:r>
              <a:rPr lang="en-US" i="1" dirty="0"/>
              <a:t>.</a:t>
            </a:r>
            <a:r>
              <a:rPr lang="en-US" dirty="0"/>
              <a:t> 2007, 3, </a:t>
            </a:r>
            <a:r>
              <a:rPr lang="en-US" dirty="0" smtClean="0"/>
              <a:t>1927</a:t>
            </a:r>
            <a:r>
              <a:rPr lang="en-US" dirty="0"/>
              <a:t>–</a:t>
            </a:r>
            <a:r>
              <a:rPr lang="en-US" dirty="0" smtClean="0"/>
              <a:t>1946</a:t>
            </a:r>
            <a:endParaRPr lang="en-US" dirty="0"/>
          </a:p>
          <a:p>
            <a:r>
              <a:rPr lang="en-US" baseline="30000" dirty="0"/>
              <a:t>2</a:t>
            </a:r>
            <a:r>
              <a:rPr lang="en-US" dirty="0"/>
              <a:t>Baker et al. </a:t>
            </a:r>
            <a:r>
              <a:rPr lang="en-US" i="1" dirty="0"/>
              <a:t>J. Chem. Theory </a:t>
            </a:r>
            <a:r>
              <a:rPr lang="en-US" i="1" dirty="0" err="1"/>
              <a:t>Comput</a:t>
            </a:r>
            <a:r>
              <a:rPr lang="en-US" i="1" dirty="0"/>
              <a:t>.</a:t>
            </a:r>
            <a:r>
              <a:rPr lang="en-US" dirty="0"/>
              <a:t> 2010, 6, 1181–1198</a:t>
            </a:r>
          </a:p>
        </p:txBody>
      </p:sp>
    </p:spTree>
    <p:extLst>
      <p:ext uri="{BB962C8B-B14F-4D97-AF65-F5344CB8AC3E}">
        <p14:creationId xmlns:p14="http://schemas.microsoft.com/office/powerpoint/2010/main" val="2621882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Hydration Free Energy of Butane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883121"/>
              </p:ext>
            </p:extLst>
          </p:nvPr>
        </p:nvGraphicFramePr>
        <p:xfrm>
          <a:off x="1143000" y="1792069"/>
          <a:ext cx="6553200" cy="2838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21080"/>
                <a:gridCol w="1310640"/>
                <a:gridCol w="1310640"/>
                <a:gridCol w="1310640"/>
              </a:tblGrid>
              <a:tr h="3299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</a:rPr>
                        <a:t>Ethanol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  <a:latin typeface="+mn-lt"/>
                        </a:rPr>
                        <a:t>rep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  <a:latin typeface="+mn-lt"/>
                        </a:rPr>
                        <a:t>att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  <a:latin typeface="+mn-lt"/>
                        </a:rPr>
                        <a:t>chg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</a:rPr>
                        <a:t>ΔG</a:t>
                      </a:r>
                      <a:r>
                        <a:rPr lang="en-US" sz="1600" baseline="-25000" dirty="0" err="1">
                          <a:effectLst/>
                          <a:latin typeface="+mn-lt"/>
                        </a:rPr>
                        <a:t>solv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SimSun"/>
                        </a:rPr>
                        <a:t>Published</a:t>
                      </a:r>
                      <a:r>
                        <a:rPr lang="en-US" sz="1600" baseline="30000" dirty="0" smtClean="0">
                          <a:effectLst/>
                          <a:latin typeface="+mn-lt"/>
                          <a:ea typeface="SimSun"/>
                        </a:rPr>
                        <a:t>1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14.12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-12.34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-0.31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1.46</a:t>
                      </a: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Published </a:t>
                      </a:r>
                      <a:r>
                        <a:rPr lang="en-US" sz="1600" dirty="0" smtClean="0">
                          <a:effectLst/>
                          <a:latin typeface="+mn-lt"/>
                          <a:ea typeface="SimSun"/>
                        </a:rPr>
                        <a:t>(PS LJ)</a:t>
                      </a:r>
                      <a:r>
                        <a:rPr lang="en-US" sz="1600" baseline="30000" dirty="0" smtClean="0">
                          <a:effectLst/>
                          <a:latin typeface="+mn-lt"/>
                          <a:ea typeface="SimSun"/>
                        </a:rPr>
                        <a:t>2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+mn-lt"/>
                          <a:ea typeface="SimSun"/>
                        </a:rPr>
                        <a:t>2.54</a:t>
                      </a:r>
                      <a:endParaRPr lang="en-US" sz="1600" dirty="0"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Revised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14.99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-11.16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-0.41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3.42</a:t>
                      </a: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REMD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15.03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-11.21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-0.41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3.42</a:t>
                      </a:r>
                    </a:p>
                  </a:txBody>
                  <a:tcPr marL="68580" marR="68580" marT="0" marB="0" anchor="ctr"/>
                </a:tc>
              </a:tr>
              <a:tr h="5017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Exptl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Sun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Sun"/>
                        </a:rPr>
                        <a:t>2.15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143000" y="4763869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30000" dirty="0" smtClean="0"/>
              <a:t>1</a:t>
            </a:r>
            <a:r>
              <a:rPr lang="en-US" dirty="0" smtClean="0"/>
              <a:t>Vorobyov </a:t>
            </a:r>
            <a:r>
              <a:rPr lang="en-US" dirty="0"/>
              <a:t>et al. </a:t>
            </a:r>
            <a:r>
              <a:rPr lang="en-US" i="1" dirty="0"/>
              <a:t>J. Phys. Chem. B</a:t>
            </a:r>
            <a:r>
              <a:rPr lang="en-US" dirty="0"/>
              <a:t> 2005, </a:t>
            </a:r>
            <a:r>
              <a:rPr lang="en-US" b="1" dirty="0"/>
              <a:t>109</a:t>
            </a:r>
            <a:r>
              <a:rPr lang="en-US" dirty="0"/>
              <a:t>, </a:t>
            </a:r>
            <a:r>
              <a:rPr lang="en-US" dirty="0" smtClean="0"/>
              <a:t>18988</a:t>
            </a:r>
            <a:r>
              <a:rPr lang="en-US" dirty="0"/>
              <a:t>–</a:t>
            </a:r>
            <a:r>
              <a:rPr lang="en-US" dirty="0" smtClean="0"/>
              <a:t>18999</a:t>
            </a:r>
            <a:endParaRPr lang="en-US" dirty="0"/>
          </a:p>
          <a:p>
            <a:r>
              <a:rPr lang="en-US" baseline="30000" dirty="0"/>
              <a:t>2</a:t>
            </a:r>
            <a:r>
              <a:rPr lang="en-US" dirty="0"/>
              <a:t>Baker et al. </a:t>
            </a:r>
            <a:r>
              <a:rPr lang="en-US" i="1" dirty="0"/>
              <a:t>J. Chem. Theory </a:t>
            </a:r>
            <a:r>
              <a:rPr lang="en-US" i="1" dirty="0" err="1"/>
              <a:t>Comput</a:t>
            </a:r>
            <a:r>
              <a:rPr lang="en-US" i="1" dirty="0"/>
              <a:t>.</a:t>
            </a:r>
            <a:r>
              <a:rPr lang="en-US" dirty="0"/>
              <a:t> 2010, 6, 1181–1198</a:t>
            </a:r>
          </a:p>
        </p:txBody>
      </p:sp>
    </p:spTree>
    <p:extLst>
      <p:ext uri="{BB962C8B-B14F-4D97-AF65-F5344CB8AC3E}">
        <p14:creationId xmlns:p14="http://schemas.microsoft.com/office/powerpoint/2010/main" val="3503208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Charge Fitting of Benzene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1915446"/>
              </p:ext>
            </p:extLst>
          </p:nvPr>
        </p:nvGraphicFramePr>
        <p:xfrm>
          <a:off x="838200" y="2052320"/>
          <a:ext cx="80010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/>
                <a:gridCol w="40005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Courier New" pitchFamily="49" charset="0"/>
                          <a:cs typeface="Courier New" pitchFamily="49" charset="0"/>
                        </a:rPr>
                        <a:t>Old</a:t>
                      </a:r>
                      <a:endParaRPr 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Courier New" pitchFamily="49" charset="0"/>
                          <a:cs typeface="Courier New" pitchFamily="49" charset="0"/>
                        </a:rPr>
                        <a:t>Lei’s Code</a:t>
                      </a:r>
                      <a:endParaRPr 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CG CD2R6A  -0.1106 ALPHA -1.615 THOLE 1.195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HG HDR6A    0.1106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CD1 CD2R6A -0.1106 ALPHA -1.615 THOLE 1.195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HD1 HDR6A   0.1106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CD2 CD2R6A -0.1106 ALPHA -1.615 THOLE 1.195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HD2 HDR6A   0.1106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CE1 CD2R6A -0.1106 ALPHA -1.615 THOLE 1.195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HE1 HDR6A   0.1106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CE2 CD2R6A -0.1106 ALPHA -1.615 THOLE 1.195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HE2 HDR6A   0.1106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CZ CD2R6A  -0.1106 ALPHA -1.615 THOLE 1.195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HZ HDR6A    0.1106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CG CA  -0.085 ALPHA -1.820 THOLE 1.279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HG HA   0.085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CD1 CA -0.085 ALPHA -1.820 THOLE 1.279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HD1 HA  0.085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CD2 CA -0.085 ALPHA -1.820 THOLE 1.279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HD2 HA  0.085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CE1 CA -0.085 ALPHA -1.820 THOLE 1.279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HE1 HA  0.085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CE2 CA -0.085 ALPHA -1.820 THOLE 1.279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HE2 HA  0.085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CZ CA  -0.085 ALPHA -1.820 THOLE 1.279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HZ HA   0.085</a:t>
                      </a:r>
                      <a:endParaRPr lang="en-US" sz="1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04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Charge Fitting of Ethanol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5361723"/>
              </p:ext>
            </p:extLst>
          </p:nvPr>
        </p:nvGraphicFramePr>
        <p:xfrm>
          <a:off x="838200" y="2052320"/>
          <a:ext cx="80010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/>
                <a:gridCol w="40005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Courier New" pitchFamily="49" charset="0"/>
                          <a:cs typeface="Courier New" pitchFamily="49" charset="0"/>
                        </a:rPr>
                        <a:t>Old</a:t>
                      </a:r>
                      <a:endParaRPr 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Courier New" pitchFamily="49" charset="0"/>
                          <a:cs typeface="Courier New" pitchFamily="49" charset="0"/>
                        </a:rPr>
                        <a:t>Lei’s Code</a:t>
                      </a:r>
                      <a:endParaRPr 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C1 CD32A -0.060 </a:t>
                      </a:r>
                      <a:r>
                        <a:rPr lang="en-US" sz="1000" b="1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ALPHA -1.000 </a:t>
                      </a:r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THOLE 1.3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O1 OD31A  0.000 ALPHA -1.028 THOLE 1.3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HO1 HDP1A 0.360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H1A HDA2A 0.080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H1B HDA2A 0.080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C2 CD33A -0.180 ALPHA </a:t>
                      </a:r>
                      <a:r>
                        <a:rPr lang="en-US" sz="1000" b="1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-1.400</a:t>
                      </a:r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THOLE 1.3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H2A HDA3A 0.060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H2B HDA3A 0.060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H2C HDA3A 0.060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LP1A LP -0.230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LP1B LP -0.230</a:t>
                      </a:r>
                    </a:p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ANISOTROPY O1 C1 LP1A LP1B A11 0.8108 A22 1.2162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C1 C3 0.138 </a:t>
                      </a:r>
                      <a:r>
                        <a:rPr lang="en-US" sz="1000" b="1" dirty="0" smtClean="0">
                          <a:latin typeface="Courier New" pitchFamily="49" charset="0"/>
                          <a:cs typeface="Courier New" pitchFamily="49" charset="0"/>
                        </a:rPr>
                        <a:t>ALPHA -1.902 </a:t>
                      </a:r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THOLE 1.134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O1 OH 0.140 ALPHA -0.969 THOLE 1.140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HO1 HO 0.351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H1A H1 0.010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H1B H1 0.010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C2 C3 -0.047 ALPHA </a:t>
                      </a:r>
                      <a:r>
                        <a:rPr lang="en-US" sz="1000" b="1" dirty="0" smtClean="0">
                          <a:latin typeface="Courier New" pitchFamily="49" charset="0"/>
                          <a:cs typeface="Courier New" pitchFamily="49" charset="0"/>
                        </a:rPr>
                        <a:t>-2.049 </a:t>
                      </a:r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THOLE 1.142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H2A HC 0.010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H2B HC 0.010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H2C HC 0.010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LPAO1 LP -0.316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ATOM LPBO1 LP -0.316</a:t>
                      </a:r>
                    </a:p>
                    <a:p>
                      <a:r>
                        <a:rPr lang="en-US" sz="1000" dirty="0" smtClean="0">
                          <a:latin typeface="Courier New" pitchFamily="49" charset="0"/>
                          <a:cs typeface="Courier New" pitchFamily="49" charset="0"/>
                        </a:rPr>
                        <a:t>ANISOTROPY O1 C1 LPAO1 LPBO1 A11 0.70099 A22 1.119</a:t>
                      </a:r>
                      <a:endParaRPr lang="en-US" sz="1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41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Charge Fitting of Butane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7485E-FC5A-4BA1-B790-E1D87657B230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0269172"/>
              </p:ext>
            </p:extLst>
          </p:nvPr>
        </p:nvGraphicFramePr>
        <p:xfrm>
          <a:off x="838200" y="2052320"/>
          <a:ext cx="8001000" cy="280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/>
                <a:gridCol w="40005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Courier New" pitchFamily="49" charset="0"/>
                          <a:cs typeface="Courier New" pitchFamily="49" charset="0"/>
                        </a:rPr>
                        <a:t>Old</a:t>
                      </a:r>
                      <a:endParaRPr 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Courier New" pitchFamily="49" charset="0"/>
                          <a:cs typeface="Courier New" pitchFamily="49" charset="0"/>
                        </a:rPr>
                        <a:t>Lei’s Code</a:t>
                      </a:r>
                      <a:endParaRPr 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H11 HDA3A 0.059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H12 HDA3A 0.059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H13 HDA3A 0.059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C1 CD33A -0.177 ALPHA -2.051 THOLE 1.3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H21 HDA2A 0.078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H22 HDA2A 0.078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C2 CD32A </a:t>
                      </a:r>
                      <a:r>
                        <a:rPr lang="en-US" sz="1100" b="1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-0.156 </a:t>
                      </a:r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ALPHA -1.660 THOLE 1.3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H31 HDA2A 0.078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H32 HDA2A 0.078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C3 CD32A </a:t>
                      </a:r>
                      <a:r>
                        <a:rPr lang="en-US" sz="1100" b="1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-0.156 </a:t>
                      </a:r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ALPHA -1.660 THOLE 1.3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H41 HDA3A 0.059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H42 HDA3A 0.059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H43 HDA3A 0.059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C4 CD33A -0.177 ALPHA -2.051 THOLE 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H11 HC 0.049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H12 HC 0.047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H13 HC 0.047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C1 C3 -0.215 ALPHA -2.070 THOLE 1.028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H21 HC 0.010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H22 HC 0.010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C2 C3 </a:t>
                      </a:r>
                      <a:r>
                        <a:rPr lang="en-US" sz="1100" b="1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0.053 </a:t>
                      </a:r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ALPHA -1.943 THOLE 1.017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H31 HC 0.010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H32 HC 0.010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C3 </a:t>
                      </a:r>
                      <a:r>
                        <a:rPr lang="en-US" sz="1100" b="0" i="0" u="none" strike="noStrike" kern="1200" baseline="0" dirty="0" err="1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C3</a:t>
                      </a:r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1100" b="1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0.053</a:t>
                      </a:r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ALPHA -1.943 THOLE 1.017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H41 HC 0.047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H42 HC 0.047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H43 HC 0.047</a:t>
                      </a:r>
                    </a:p>
                    <a:p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ATOM C4 C3 -0.215 ALPHA -2.070 THOLE 1.028</a:t>
                      </a:r>
                      <a:endParaRPr lang="en-US" sz="11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62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lym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 marL="342900" marR="0" indent="-342900" algn="l" defTabSz="914400" rtl="0" eaLnBrk="1" fontAlgn="auto" latinLnBrk="0" hangingPunct="1">
          <a:lnSpc>
            <a:spcPct val="100000"/>
          </a:lnSpc>
          <a:spcBef>
            <a:spcPct val="20000"/>
          </a:spcBef>
          <a:spcAft>
            <a:spcPts val="0"/>
          </a:spcAft>
          <a:buClrTx/>
          <a:buSzTx/>
          <a:buFont typeface="Arial" pitchFamily="34" charset="0"/>
          <a:buChar char="•"/>
          <a:tabLst/>
          <a:defRPr kumimoji="0" sz="32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polymer</Template>
  <TotalTime>14052</TotalTime>
  <Words>1701</Words>
  <Application>Microsoft Office PowerPoint</Application>
  <PresentationFormat>On-screen Show (4:3)</PresentationFormat>
  <Paragraphs>468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polymer</vt:lpstr>
      <vt:lpstr>PowerPoint Presentation</vt:lpstr>
      <vt:lpstr>A New Model for NMA</vt:lpstr>
      <vt:lpstr>Lennard-Jones Terms</vt:lpstr>
      <vt:lpstr>The Problem</vt:lpstr>
      <vt:lpstr>Hamiltonian Exchange Replica Exchange MD</vt:lpstr>
      <vt:lpstr>Thermostats Used in Gas Phase Component</vt:lpstr>
      <vt:lpstr>Integration of Charging Free Energy Component</vt:lpstr>
      <vt:lpstr>Difference in Repulsive Component is Due to WHAM SCF Tolerance </vt:lpstr>
      <vt:lpstr>Serial vs Parallel CHARMM</vt:lpstr>
      <vt:lpstr>Serial vs Parallel Resolution</vt:lpstr>
      <vt:lpstr>Results</vt:lpstr>
      <vt:lpstr>Part II: Revisiting Old Molecules</vt:lpstr>
      <vt:lpstr>Hydration Free Energy of Benzene</vt:lpstr>
      <vt:lpstr>Hydration Free Energy of Ethanol</vt:lpstr>
      <vt:lpstr>Hydration Free Energy of Butane</vt:lpstr>
      <vt:lpstr>Charge Fitting of Benzene</vt:lpstr>
      <vt:lpstr>Charge Fitting of Ethanol</vt:lpstr>
      <vt:lpstr>Charge Fitting of Butane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Christopher Rowley</dc:creator>
  <cp:lastModifiedBy>Rowley</cp:lastModifiedBy>
  <cp:revision>708</cp:revision>
  <dcterms:created xsi:type="dcterms:W3CDTF">2010-11-11T17:47:37Z</dcterms:created>
  <dcterms:modified xsi:type="dcterms:W3CDTF">2011-07-14T14:46:21Z</dcterms:modified>
</cp:coreProperties>
</file>